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60" r:id="rId6"/>
    <p:sldId id="261" r:id="rId7"/>
    <p:sldId id="262" r:id="rId8"/>
    <p:sldId id="259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>
        <p:scale>
          <a:sx n="70" d="100"/>
          <a:sy n="70" d="100"/>
        </p:scale>
        <p:origin x="744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363EC-B0B7-8D7E-F19C-254FF049E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C90CA4-2EAF-B220-6ED5-78409699D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EBAC4-D220-716E-2710-5BF3E0191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34C9D-838A-4817-962A-A0663BB096B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5540D-749C-BB32-1C02-343C98537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8CA4F-3C2A-D023-B5BE-47F4A630F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326D2-8114-4963-BF90-9A70B1C0B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660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270E7-A473-94FD-B636-7429AF1D5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6FA4B-9AD2-59F3-BE9E-5B7769756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68508-2C13-C22F-CDFB-330FD1654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34C9D-838A-4817-962A-A0663BB096B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319AD-0B66-5F83-8139-FF7F20874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E4AEB-31BF-433F-EC86-DD3785E59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326D2-8114-4963-BF90-9A70B1C0B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392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CBD44-3BA5-E8C8-564F-780052610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ACDFC0-7C74-9E62-227F-474ABFE5D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B2202-D42D-38F7-3600-CD2EEA74E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34C9D-838A-4817-962A-A0663BB096B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84CF6-57E5-BBEA-D5C8-4C7D9DF42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A19A5-4F65-A4B1-A0C1-4DB8658AD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326D2-8114-4963-BF90-9A70B1C0B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69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66341-BD9D-5FA7-9E3F-6687B5D8B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6195D-4D49-970C-E362-2367019569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D607B-7F85-8CC4-2925-F98152AB5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5195CB-6007-44A5-C9C1-CBF7D2410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34C9D-838A-4817-962A-A0663BB096B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D65DF-C154-2C03-2CBB-5FF9ECB6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ECC5F-1ACD-47D6-F575-6DDA3AA57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326D2-8114-4963-BF90-9A70B1C0B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71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C51BD-9993-DD8A-AC22-D2E3037F4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AC64B-5917-EC7B-6CD8-14C2527EF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C59F27-947F-AD6B-F538-3E7890E79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CF9B90-5105-D90C-46C9-1BB3DDA7FC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AC675F-7C3B-CD1A-5924-172D3EED14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D8D0C6-93D1-6A48-9C1B-18AC06B2B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34C9D-838A-4817-962A-A0663BB096B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CE3F07-EE54-1398-DA7E-7DFF3C4A0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5748A-482A-9C50-F8F7-2AA9A7A81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326D2-8114-4963-BF90-9A70B1C0B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066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F29D5-C090-BD59-7A43-63B1FD444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35285-B8D9-2077-26DF-BDFE89DD5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34C9D-838A-4817-962A-A0663BB096B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E7C367-5233-01E2-416C-E660CF09C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10E15-3E92-1CFE-805E-D23713E96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326D2-8114-4963-BF90-9A70B1C0B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93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94BF33-AD38-E81D-FA09-CBED0E82E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34C9D-838A-4817-962A-A0663BB096B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320A46-14FA-671C-1818-61C05C669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C52FF-79D9-806C-9F64-8D6AA6758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326D2-8114-4963-BF90-9A70B1C0B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694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AC163-01F9-237F-E4DB-AEC44AA69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1FF5C-B0FE-8255-0AC1-0CC1DF851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709C8-CCA0-07BE-E283-1FA7803264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B58245-A8A3-C1DF-0A02-0E69EB8AA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34C9D-838A-4817-962A-A0663BB096B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27CD6-4C6D-D00C-5CDA-02C9FAEB2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5780E-C890-E3B5-2E6B-7AF8880AD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326D2-8114-4963-BF90-9A70B1C0B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900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928DB-B165-5381-0F25-8C41D1171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BD5D02-E983-153C-9249-84D384A8C0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909A2A-C2A3-0BA9-A6E8-824D2D89B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FB4E7-69C5-0B66-3A8E-0117DE86F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34C9D-838A-4817-962A-A0663BB096B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4C370-EA29-4D0E-BE40-EA2619E6F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9B4122-CB3B-076F-F9DB-7AE72F74F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326D2-8114-4963-BF90-9A70B1C0B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097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23DC2-EAE2-F1BE-906C-5B53F13C5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54E494-A65E-5792-78C1-9E036B4516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ACCEB-6261-9832-6DF7-B4CACFD60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34C9D-838A-4817-962A-A0663BB096B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9FC14-8D21-EE1D-1064-EDB58C3B7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4683-3A5F-06CE-C627-4AEE27AB0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326D2-8114-4963-BF90-9A70B1C0B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223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922C3-C1CA-4D65-6C2E-4DAD6CE855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A5D820-ED0E-E32C-8618-7EB06B7CC5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82D1F-39D5-631A-6277-CEF7C0E3F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34C9D-838A-4817-962A-A0663BB096B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D94D5-5EDE-5FC8-C61F-25F9C4AA6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C530D-B0EC-6477-191E-F3B974887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326D2-8114-4963-BF90-9A70B1C0B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43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2C6D9F-8A2B-2FAA-0EF5-02AF2791B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9989C-EC96-5241-A9C3-11E13E170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DB3A3-5A6F-AC35-7CDE-4C532D0279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B34C9D-838A-4817-962A-A0663BB096B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2A71E-4C1C-87EE-0275-6FB51E495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17847-B795-A5B1-6EEC-7C726858A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326D2-8114-4963-BF90-9A70B1C0B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319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017E0-5795-6A11-611C-9FDC5B1417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Feature Selection To</a:t>
            </a:r>
            <a:br>
              <a:rPr lang="en-US" dirty="0"/>
            </a:br>
            <a:r>
              <a:rPr lang="en-US" dirty="0"/>
              <a:t>Distinguish </a:t>
            </a:r>
            <a:br>
              <a:rPr lang="en-US" dirty="0"/>
            </a:br>
            <a:r>
              <a:rPr lang="en-US" dirty="0"/>
              <a:t>Benign vs DDoS Traffic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889543-9C6A-1EB1-20EA-AC9221847B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6888"/>
            <a:ext cx="9144000" cy="1655762"/>
          </a:xfrm>
        </p:spPr>
        <p:txBody>
          <a:bodyPr/>
          <a:lstStyle/>
          <a:p>
            <a:r>
              <a:rPr lang="en-US" b="1" dirty="0"/>
              <a:t>Shahzeb</a:t>
            </a:r>
            <a:r>
              <a:rPr lang="en-US" dirty="0"/>
              <a:t> – 12/09/25</a:t>
            </a:r>
          </a:p>
        </p:txBody>
      </p:sp>
    </p:spTree>
    <p:extLst>
      <p:ext uri="{BB962C8B-B14F-4D97-AF65-F5344CB8AC3E}">
        <p14:creationId xmlns:p14="http://schemas.microsoft.com/office/powerpoint/2010/main" val="2096734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8CEA-1BC4-6A92-BCA9-5CC2E32C1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About the dataset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50726-CD62-39B5-29F1-9600958CC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Dataset Name:</a:t>
            </a:r>
            <a:r>
              <a:rPr lang="en-US" dirty="0"/>
              <a:t> CICDDoS2019</a:t>
            </a:r>
          </a:p>
          <a:p>
            <a:pPr marL="0" indent="0">
              <a:buNone/>
            </a:pPr>
            <a:r>
              <a:rPr lang="en-US" b="1" dirty="0"/>
              <a:t>From:</a:t>
            </a:r>
            <a:r>
              <a:rPr lang="en-US" dirty="0"/>
              <a:t> Canadian Institute for Cybersecurity datasets are used around the world by universities, private industry, and independent researchers.</a:t>
            </a:r>
          </a:p>
          <a:p>
            <a:r>
              <a:rPr lang="en-US" b="1" dirty="0"/>
              <a:t>Features/columns</a:t>
            </a:r>
            <a:r>
              <a:rPr lang="en-US" dirty="0"/>
              <a:t>: (225745, 79) </a:t>
            </a:r>
          </a:p>
          <a:p>
            <a:r>
              <a:rPr lang="en-US" b="1" dirty="0"/>
              <a:t>Label categories</a:t>
            </a:r>
            <a:r>
              <a:rPr lang="en-US" dirty="0"/>
              <a:t>: BENIGN, DDoS</a:t>
            </a:r>
          </a:p>
          <a:p>
            <a:r>
              <a:rPr lang="en-US" b="1" dirty="0"/>
              <a:t>Feature for analysis: </a:t>
            </a:r>
            <a:r>
              <a:rPr lang="en-US" dirty="0" err="1"/>
              <a:t>flow_duration</a:t>
            </a:r>
            <a:endParaRPr lang="en-US" dirty="0"/>
          </a:p>
          <a:p>
            <a:r>
              <a:rPr lang="en-US" b="1" dirty="0"/>
              <a:t>Dataset Link: </a:t>
            </a:r>
            <a:r>
              <a:rPr lang="en-US" dirty="0"/>
              <a:t>https://www.unb.ca/cic/datasets/ddos-2019.html</a:t>
            </a:r>
          </a:p>
          <a:p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1617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CD1A0-0CC8-A602-FB29-6EAE72405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89B9D-B532-99B6-B186-EE9D77ED9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</a:t>
            </a:r>
            <a:r>
              <a:rPr lang="en-US" b="1" dirty="0"/>
              <a:t>Flow Duration </a:t>
            </a:r>
            <a:r>
              <a:rPr lang="en-US" dirty="0"/>
              <a:t>reliably separate benign from attack traffic?</a:t>
            </a:r>
          </a:p>
          <a:p>
            <a:r>
              <a:rPr lang="en-US" b="1" dirty="0"/>
              <a:t>Why it matters</a:t>
            </a:r>
            <a:r>
              <a:rPr lang="en-US" dirty="0"/>
              <a:t>: many traffic features are skewed; mean may mislead.</a:t>
            </a:r>
          </a:p>
          <a:p>
            <a:r>
              <a:rPr lang="en-US" b="1" dirty="0"/>
              <a:t>Motivation</a:t>
            </a:r>
            <a:r>
              <a:rPr lang="en-US" dirty="0"/>
              <a:t>: Back then in 2019, I selected features from the same dataset and didn’t have an idea which features are worth to use for detecting attacks</a:t>
            </a:r>
          </a:p>
          <a:p>
            <a:r>
              <a:rPr lang="en-US" b="1" dirty="0"/>
              <a:t>Goal</a:t>
            </a:r>
            <a:r>
              <a:rPr lang="en-US" dirty="0"/>
              <a:t>: test whether average flow duration differs significantly between benign and DDoS flows</a:t>
            </a:r>
          </a:p>
        </p:txBody>
      </p:sp>
    </p:spTree>
    <p:extLst>
      <p:ext uri="{BB962C8B-B14F-4D97-AF65-F5344CB8AC3E}">
        <p14:creationId xmlns:p14="http://schemas.microsoft.com/office/powerpoint/2010/main" val="2020807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CE1FB5-BC72-7B0A-9695-DF3181F85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Cleaning and Preprocessing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8A0FE-8E20-5086-F9D8-C26712481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2200" dirty="0"/>
              <a:t>Data was highly skewed</a:t>
            </a:r>
          </a:p>
          <a:p>
            <a:r>
              <a:rPr lang="en-US" sz="2200" dirty="0"/>
              <a:t>Replaced Infinites values with </a:t>
            </a:r>
            <a:r>
              <a:rPr lang="en-US" sz="2200" dirty="0" err="1"/>
              <a:t>NaN</a:t>
            </a:r>
            <a:endParaRPr lang="en-US" sz="2200" dirty="0"/>
          </a:p>
          <a:p>
            <a:r>
              <a:rPr lang="en-US" sz="2200" dirty="0"/>
              <a:t>Removed </a:t>
            </a:r>
            <a:r>
              <a:rPr lang="en-US" sz="2200" dirty="0" err="1"/>
              <a:t>NaN</a:t>
            </a:r>
            <a:r>
              <a:rPr lang="en-US" sz="2200" dirty="0"/>
              <a:t> and replace them with the median of the affected columns</a:t>
            </a:r>
          </a:p>
          <a:p>
            <a:r>
              <a:rPr lang="en-US" sz="2200" dirty="0"/>
              <a:t>Use log‑transformation before computing sample means to mitigate heavy skew</a:t>
            </a:r>
          </a:p>
          <a:p>
            <a:endParaRPr lang="en-US" sz="2200" dirty="0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EF5C15E-D1B1-827A-1555-59F25DE49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835" y="584822"/>
            <a:ext cx="2984267" cy="3429969"/>
          </a:xfrm>
          <a:prstGeom prst="rect">
            <a:avLst/>
          </a:prstGeom>
        </p:spPr>
      </p:pic>
      <p:pic>
        <p:nvPicPr>
          <p:cNvPr id="9" name="Picture 8" descr="A screenshot of a number&#10;&#10;AI-generated content may be incorrect.">
            <a:extLst>
              <a:ext uri="{FF2B5EF4-FFF2-40B4-BE49-F238E27FC236}">
                <a16:creationId xmlns:a16="http://schemas.microsoft.com/office/drawing/2014/main" id="{C4070020-2050-A156-8399-F1D3683A3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558193"/>
            <a:ext cx="3995928" cy="121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487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F5556-F2D3-BB79-5BCD-5D7501480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(Statistical Approach)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159EA-836D-B6E2-6137-6A224DF09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Use of </a:t>
            </a:r>
            <a:r>
              <a:rPr lang="en-US" b="1" dirty="0"/>
              <a:t>CLT </a:t>
            </a:r>
            <a:r>
              <a:rPr lang="en-US" dirty="0"/>
              <a:t>+ log transform to handle skewness.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/>
              <a:t>Bootstrapping </a:t>
            </a:r>
            <a:r>
              <a:rPr lang="en-US" dirty="0"/>
              <a:t>(large‑sample draws + log transform) </a:t>
            </a:r>
            <a:r>
              <a:rPr lang="en-US" dirty="0">
                <a:sym typeface="Wingdings" panose="05000000000000000000" pitchFamily="2" charset="2"/>
              </a:rPr>
              <a:t> build </a:t>
            </a:r>
            <a:r>
              <a:rPr lang="en-US" dirty="0"/>
              <a:t>sampling distributions of mean per group.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Permutation test </a:t>
            </a:r>
            <a:r>
              <a:rPr lang="en-US" dirty="0"/>
              <a:t>(label shuffle)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empirical null distribution of mean‑difference.</a:t>
            </a:r>
          </a:p>
        </p:txBody>
      </p:sp>
    </p:spTree>
    <p:extLst>
      <p:ext uri="{BB962C8B-B14F-4D97-AF65-F5344CB8AC3E}">
        <p14:creationId xmlns:p14="http://schemas.microsoft.com/office/powerpoint/2010/main" val="3276497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7B4CD-D500-AAC5-8B25-6A18C9138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Observed Difference &amp;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CE7B0-450D-173C-94E0-D8486B3CC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u="sng" dirty="0"/>
              <a:t>CLT + Bootstrapping resulted in: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Observed log‑mean difference ≈ 0.10 → ~10% higher for attack flows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Avg time duration of attack packets 10% higher than BENIGN</a:t>
            </a:r>
          </a:p>
          <a:p>
            <a:pPr>
              <a:lnSpc>
                <a:spcPct val="100000"/>
              </a:lnSpc>
            </a:pPr>
            <a:r>
              <a:rPr lang="en-US" dirty="0"/>
              <a:t>Implication: this difference could help discriminate flow types(either DDoS or BENIGN)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355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F0553-F1A4-BAC6-CB47-75497C3D7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Observed log‑mean difference ≈ 0.10</a:t>
            </a:r>
            <a:endParaRPr lang="en-US" b="1" dirty="0"/>
          </a:p>
        </p:txBody>
      </p:sp>
      <p:pic>
        <p:nvPicPr>
          <p:cNvPr id="5" name="Content Placeholder 4" descr="A comparison of a graph&#10;&#10;AI-generated content may be incorrect.">
            <a:extLst>
              <a:ext uri="{FF2B5EF4-FFF2-40B4-BE49-F238E27FC236}">
                <a16:creationId xmlns:a16="http://schemas.microsoft.com/office/drawing/2014/main" id="{5FE72C3F-BE7C-3234-DEB8-28C0368F6D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4497"/>
            <a:ext cx="10515600" cy="433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588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B02F7-D75D-1F2E-5026-3746590FE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EBE27-3917-37FB-B1E2-3EB6ACD19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Null (H₀)</a:t>
            </a:r>
            <a:r>
              <a:rPr lang="en-US" dirty="0"/>
              <a:t>: No difference in average flow duration between benign and attack flows (label irrelevant)</a:t>
            </a:r>
          </a:p>
          <a:p>
            <a:r>
              <a:rPr lang="en-US" b="1" dirty="0"/>
              <a:t>Alternative (H₁)</a:t>
            </a:r>
            <a:r>
              <a:rPr lang="en-US" dirty="0"/>
              <a:t>: Attack flows have higher average flow duration than benign</a:t>
            </a:r>
          </a:p>
          <a:p>
            <a:r>
              <a:rPr lang="en-US" dirty="0"/>
              <a:t>Flow Duration is discriminative</a:t>
            </a:r>
          </a:p>
        </p:txBody>
      </p:sp>
    </p:spTree>
    <p:extLst>
      <p:ext uri="{BB962C8B-B14F-4D97-AF65-F5344CB8AC3E}">
        <p14:creationId xmlns:p14="http://schemas.microsoft.com/office/powerpoint/2010/main" val="80209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3D04D-D9FC-BE5D-5E80-4C2F1AC44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4597747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Permutation Test &amp; p‑value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35ED1-66E9-4F6A-8B42-EAC176878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4597746" cy="3447832"/>
          </a:xfrm>
        </p:spPr>
        <p:txBody>
          <a:bodyPr anchor="t">
            <a:normAutofit/>
          </a:bodyPr>
          <a:lstStyle/>
          <a:p>
            <a:r>
              <a:rPr lang="en-US" sz="2000" dirty="0"/>
              <a:t>p‑value (one‑sided) ≈ 0.20%, far below than 5% threshold</a:t>
            </a:r>
          </a:p>
          <a:p>
            <a:r>
              <a:rPr lang="en-US" sz="2000" dirty="0"/>
              <a:t>Mean diff under H₀ weren’t as extreme as the observed value</a:t>
            </a:r>
          </a:p>
          <a:p>
            <a:r>
              <a:rPr lang="en-US" sz="2000" dirty="0"/>
              <a:t>Conclusion: strong evidence </a:t>
            </a:r>
          </a:p>
          <a:p>
            <a:pPr marL="0" indent="0">
              <a:buNone/>
            </a:pPr>
            <a:r>
              <a:rPr lang="en-US" sz="2000" dirty="0"/>
              <a:t>labeling matters → reject H₀</a:t>
            </a:r>
          </a:p>
          <a:p>
            <a:endParaRPr lang="en-US" sz="2000" dirty="0"/>
          </a:p>
        </p:txBody>
      </p:sp>
      <p:pic>
        <p:nvPicPr>
          <p:cNvPr id="12" name="Picture 11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60FCC1A8-BE19-4EBF-F44A-3F3872CB1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270483"/>
            <a:ext cx="5319062" cy="4241951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56283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524C5-6E51-6FDA-221D-BEB577566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2724D-E9CC-C359-54A6-2014FB443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Despite heavy skew in raw data, log‑transform + bootstrapping + permutation test allow robust inference.</a:t>
            </a:r>
          </a:p>
          <a:p>
            <a:r>
              <a:rPr lang="en-US" dirty="0"/>
              <a:t>Attack flows show significantly higher flow duration (≈ 10% on average).</a:t>
            </a:r>
          </a:p>
          <a:p>
            <a:r>
              <a:rPr lang="en-US" dirty="0"/>
              <a:t>Permutation test yields p‑value ≈ 0.002 → statistically significant.</a:t>
            </a:r>
          </a:p>
          <a:p>
            <a:r>
              <a:rPr lang="en-US" dirty="0"/>
              <a:t>Flow Duration is robust and discriminative feature but should be used in combination with others for best results.</a:t>
            </a:r>
          </a:p>
        </p:txBody>
      </p:sp>
    </p:spTree>
    <p:extLst>
      <p:ext uri="{BB962C8B-B14F-4D97-AF65-F5344CB8AC3E}">
        <p14:creationId xmlns:p14="http://schemas.microsoft.com/office/powerpoint/2010/main" val="3995519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443</Words>
  <Application>Microsoft Office PowerPoint</Application>
  <PresentationFormat>Widescreen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Feature Selection To Distinguish  Benign vs DDoS Traffic</vt:lpstr>
      <vt:lpstr>About the dataset</vt:lpstr>
      <vt:lpstr>Question &amp; Motivation</vt:lpstr>
      <vt:lpstr>Cleaning and Preprocessing</vt:lpstr>
      <vt:lpstr>Methods (Statistical Approach)</vt:lpstr>
      <vt:lpstr>Observed Difference &amp; Interpretation</vt:lpstr>
      <vt:lpstr>Observed log‑mean difference ≈ 0.10</vt:lpstr>
      <vt:lpstr>Hypothesis</vt:lpstr>
      <vt:lpstr>Permutation Test &amp; p‑value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XST Haider, Shahzeb</dc:creator>
  <cp:lastModifiedBy>Haider, Shahzeb</cp:lastModifiedBy>
  <cp:revision>11</cp:revision>
  <dcterms:created xsi:type="dcterms:W3CDTF">2025-12-09T22:46:11Z</dcterms:created>
  <dcterms:modified xsi:type="dcterms:W3CDTF">2025-12-10T03:18:18Z</dcterms:modified>
</cp:coreProperties>
</file>